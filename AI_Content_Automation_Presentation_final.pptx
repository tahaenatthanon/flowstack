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204094" cy="204094"/>
          </a:xfrm>
          <a:prstGeom prst="roundRect">
            <a:avLst>
              <a:gd name="adj" fmla="val 29032"/>
            </a:avLst>
          </a:prstGeom>
          <a:solidFill>
            <a:srgbClr val="FFC72C"/>
          </a:solidFill>
        </p:spPr>
      </p:sp>
      <p:sp>
        <p:nvSpPr>
          <p:cNvPr id="3" name="Shape 1"/>
          <p:cNvSpPr/>
          <p:nvPr/>
        </p:nvSpPr>
        <p:spPr>
          <a:xfrm>
            <a:off x="771754" y="552298"/>
            <a:ext cx="204094" cy="204094"/>
          </a:xfrm>
          <a:prstGeom prst="roundRect">
            <a:avLst>
              <a:gd name="adj" fmla="val 29032"/>
            </a:avLst>
          </a:prstGeom>
          <a:solidFill>
            <a:srgbClr val="FF6B5B"/>
          </a:solidFill>
        </p:spPr>
      </p:sp>
      <p:sp>
        <p:nvSpPr>
          <p:cNvPr id="4" name="Text 2"/>
          <p:cNvSpPr/>
          <p:nvPr/>
        </p:nvSpPr>
        <p:spPr>
          <a:xfrm>
            <a:off x="1170432" y="38404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57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KTN Business Solutions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006840" y="384048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FF1C9"/>
          </a:solidFill>
        </p:spPr>
      </p:sp>
      <p:sp>
        <p:nvSpPr>
          <p:cNvPr id="6" name="Text 4"/>
          <p:cNvSpPr/>
          <p:nvPr/>
        </p:nvSpPr>
        <p:spPr>
          <a:xfrm>
            <a:off x="9006840" y="384048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57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Powered by n8n Automation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89720" y="1371600"/>
            <a:ext cx="960120" cy="960120"/>
          </a:xfrm>
          <a:prstGeom prst="roundRect">
            <a:avLst>
              <a:gd name="adj" fmla="val 24762"/>
            </a:avLst>
          </a:prstGeom>
          <a:solidFill>
            <a:srgbClr val="FFC72C"/>
          </a:solidFill>
        </p:spPr>
      </p:sp>
      <p:sp>
        <p:nvSpPr>
          <p:cNvPr id="8" name="Shape 6"/>
          <p:cNvSpPr/>
          <p:nvPr/>
        </p:nvSpPr>
        <p:spPr>
          <a:xfrm>
            <a:off x="10195560" y="1371600"/>
            <a:ext cx="960120" cy="960120"/>
          </a:xfrm>
          <a:prstGeom prst="roundRect">
            <a:avLst>
              <a:gd name="adj" fmla="val 24762"/>
            </a:avLst>
          </a:prstGeom>
          <a:ln w="3810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89720" y="2377440"/>
            <a:ext cx="960120" cy="960120"/>
          </a:xfrm>
          <a:prstGeom prst="roundRect">
            <a:avLst>
              <a:gd name="adj" fmla="val 24762"/>
            </a:avLst>
          </a:prstGeom>
          <a:ln w="38100">
            <a:solidFill>
              <a:srgbClr val="FFC7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0" y="2514600"/>
            <a:ext cx="1188720" cy="1188720"/>
          </a:xfrm>
          <a:prstGeom prst="roundRect">
            <a:avLst>
              <a:gd name="adj" fmla="val 23077"/>
            </a:avLst>
          </a:prstGeom>
          <a:solidFill>
            <a:srgbClr val="FF6B5B"/>
          </a:solidFill>
        </p:spPr>
      </p:sp>
      <p:sp>
        <p:nvSpPr>
          <p:cNvPr id="11" name="Text 9"/>
          <p:cNvSpPr/>
          <p:nvPr/>
        </p:nvSpPr>
        <p:spPr>
          <a:xfrm>
            <a:off x="640080" y="2286000"/>
            <a:ext cx="85039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6B5B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AI Content Automation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40080" y="3310128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57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ระบบสร้างคอนเทนต์อัตโนมัติด้วย AI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0080" y="3950208"/>
            <a:ext cx="8503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B6B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แนวคิดระบบอัตโนมัติสร้างคอนเทนต์ เพื่อเพิ่มโอกาสติดอันดับต้น ๆ บน SEO, AEO และ Facebook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A9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KTN Business Solutions   ·   สงวนลิขสิทธิ์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" y="5806440"/>
            <a:ext cx="548640" cy="548640"/>
          </a:xfrm>
          <a:prstGeom prst="roundRect">
            <a:avLst>
              <a:gd name="adj" fmla="val 26667"/>
            </a:avLst>
          </a:prstGeom>
          <a:solidFill>
            <a:srgbClr val="FFC72C"/>
          </a:solidFill>
        </p:spPr>
      </p:sp>
      <p:sp>
        <p:nvSpPr>
          <p:cNvPr id="3" name="Shape 1"/>
          <p:cNvSpPr/>
          <p:nvPr/>
        </p:nvSpPr>
        <p:spPr>
          <a:xfrm>
            <a:off x="201168" y="5806440"/>
            <a:ext cx="548640" cy="548640"/>
          </a:xfrm>
          <a:prstGeom prst="roundRect">
            <a:avLst>
              <a:gd name="adj" fmla="val 26667"/>
            </a:avLst>
          </a:prstGeom>
          <a:ln w="31750">
            <a:solidFill>
              <a:srgbClr val="FFC7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92608" y="6309360"/>
            <a:ext cx="548640" cy="548640"/>
          </a:xfrm>
          <a:prstGeom prst="roundRect">
            <a:avLst>
              <a:gd name="adj" fmla="val 26667"/>
            </a:avLst>
          </a:prstGeom>
          <a:ln w="31750">
            <a:solidFill>
              <a:srgbClr val="FFC7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" y="5257800"/>
            <a:ext cx="685800" cy="685800"/>
          </a:xfrm>
          <a:prstGeom prst="roundRect">
            <a:avLst>
              <a:gd name="adj" fmla="val 24000"/>
            </a:avLst>
          </a:prstGeom>
          <a:solidFill>
            <a:srgbClr val="FF6B5B"/>
          </a:solidFill>
        </p:spPr>
      </p:sp>
      <p:sp>
        <p:nvSpPr>
          <p:cNvPr id="6" name="Shape 4"/>
          <p:cNvSpPr/>
          <p:nvPr/>
        </p:nvSpPr>
        <p:spPr>
          <a:xfrm>
            <a:off x="566928" y="5257800"/>
            <a:ext cx="548640" cy="548640"/>
          </a:xfrm>
          <a:prstGeom prst="roundRect">
            <a:avLst>
              <a:gd name="adj" fmla="val 26667"/>
            </a:avLst>
          </a:prstGeom>
          <a:solidFill>
            <a:srgbClr val="FFC72C"/>
          </a:solidFill>
        </p:spPr>
      </p:sp>
      <p:sp>
        <p:nvSpPr>
          <p:cNvPr id="7" name="Shape 5"/>
          <p:cNvSpPr/>
          <p:nvPr/>
        </p:nvSpPr>
        <p:spPr>
          <a:xfrm>
            <a:off x="640080" y="411480"/>
            <a:ext cx="249448" cy="249448"/>
          </a:xfrm>
          <a:prstGeom prst="roundRect">
            <a:avLst>
              <a:gd name="adj" fmla="val 29032"/>
            </a:avLst>
          </a:prstGeom>
          <a:solidFill>
            <a:srgbClr val="FFC72C"/>
          </a:solidFill>
        </p:spPr>
      </p:sp>
      <p:sp>
        <p:nvSpPr>
          <p:cNvPr id="8" name="Shape 6"/>
          <p:cNvSpPr/>
          <p:nvPr/>
        </p:nvSpPr>
        <p:spPr>
          <a:xfrm>
            <a:off x="801014" y="572414"/>
            <a:ext cx="249448" cy="249448"/>
          </a:xfrm>
          <a:prstGeom prst="roundRect">
            <a:avLst>
              <a:gd name="adj" fmla="val 29032"/>
            </a:avLst>
          </a:prstGeom>
          <a:solidFill>
            <a:srgbClr val="FF6B5B"/>
          </a:solidFill>
        </p:spPr>
      </p:sp>
      <p:sp>
        <p:nvSpPr>
          <p:cNvPr id="9" name="Text 7"/>
          <p:cNvSpPr/>
          <p:nvPr/>
        </p:nvSpPr>
        <p:spPr>
          <a:xfrm>
            <a:off x="1261872" y="283464"/>
            <a:ext cx="6858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Presentation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3566160" cy="4846320"/>
          </a:xfrm>
          <a:prstGeom prst="roundRect">
            <a:avLst>
              <a:gd name="adj" fmla="val 5641"/>
            </a:avLst>
          </a:prstGeom>
          <a:solidFill>
            <a:srgbClr val="FFF1C9"/>
          </a:solidFill>
        </p:spPr>
      </p:sp>
      <p:sp>
        <p:nvSpPr>
          <p:cNvPr id="11" name="Shape 9"/>
          <p:cNvSpPr/>
          <p:nvPr/>
        </p:nvSpPr>
        <p:spPr>
          <a:xfrm>
            <a:off x="1417320" y="2331720"/>
            <a:ext cx="1965960" cy="1371600"/>
          </a:xfrm>
          <a:prstGeom prst="wedgeRoundRectCallout">
            <a:avLst>
              <a:gd name="adj1" fmla="val -20833"/>
              <a:gd name="adj2" fmla="val 62500"/>
              <a:gd name="adj3" fmla="val 16667"/>
            </a:avLst>
          </a:prstGeom>
          <a:solidFill>
            <a:srgbClr val="FF6B5B"/>
          </a:solidFill>
        </p:spPr>
      </p:sp>
      <p:sp>
        <p:nvSpPr>
          <p:cNvPr id="12" name="Text 10"/>
          <p:cNvSpPr/>
          <p:nvPr/>
        </p:nvSpPr>
        <p:spPr>
          <a:xfrm>
            <a:off x="1417320" y="2331720"/>
            <a:ext cx="196596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AI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1051560" y="4572000"/>
            <a:ext cx="502920" cy="502920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14" name="Shape 12"/>
          <p:cNvSpPr/>
          <p:nvPr/>
        </p:nvSpPr>
        <p:spPr>
          <a:xfrm>
            <a:off x="3017520" y="4114800"/>
            <a:ext cx="365760" cy="365760"/>
          </a:xfrm>
          <a:prstGeom prst="ellipse">
            <a:avLst/>
          </a:prstGeom>
          <a:solidFill>
            <a:srgbClr val="FFC72C"/>
          </a:solidFill>
        </p:spPr>
      </p:sp>
      <p:sp>
        <p:nvSpPr>
          <p:cNvPr id="15" name="Shape 13"/>
          <p:cNvSpPr/>
          <p:nvPr/>
        </p:nvSpPr>
        <p:spPr>
          <a:xfrm>
            <a:off x="1280160" y="5212080"/>
            <a:ext cx="1737360" cy="685800"/>
          </a:xfrm>
          <a:prstGeom prst="roundRect">
            <a:avLst>
              <a:gd name="adj" fmla="val 20000"/>
            </a:avLst>
          </a:prstGeom>
          <a:ln w="31750">
            <a:solidFill>
              <a:srgbClr val="F5A62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563624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FFC72C"/>
          </a:solidFill>
        </p:spPr>
      </p:sp>
      <p:sp>
        <p:nvSpPr>
          <p:cNvPr id="17" name="Text 15"/>
          <p:cNvSpPr/>
          <p:nvPr/>
        </p:nvSpPr>
        <p:spPr>
          <a:xfrm>
            <a:off x="5166360" y="1508760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424160" y="1508760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B2A57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572000" y="2276856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FFC72C"/>
          </a:solidFill>
        </p:spPr>
      </p:sp>
      <p:sp>
        <p:nvSpPr>
          <p:cNvPr id="20" name="Text 18"/>
          <p:cNvSpPr/>
          <p:nvPr/>
        </p:nvSpPr>
        <p:spPr>
          <a:xfrm>
            <a:off x="5166360" y="2221992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Pain Point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424160" y="2221992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B2A57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572000" y="2990088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FFC72C"/>
          </a:solidFill>
        </p:spPr>
      </p:sp>
      <p:sp>
        <p:nvSpPr>
          <p:cNvPr id="23" name="Text 21"/>
          <p:cNvSpPr/>
          <p:nvPr/>
        </p:nvSpPr>
        <p:spPr>
          <a:xfrm>
            <a:off x="5166360" y="2935224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As Is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424160" y="2935224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B2A57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572000" y="3703320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FFC72C"/>
          </a:solidFill>
        </p:spPr>
      </p:sp>
      <p:sp>
        <p:nvSpPr>
          <p:cNvPr id="26" name="Text 24"/>
          <p:cNvSpPr/>
          <p:nvPr/>
        </p:nvSpPr>
        <p:spPr>
          <a:xfrm>
            <a:off x="5166360" y="3648456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To Be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424160" y="3648456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B2A57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4572000" y="4416552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FFC72C"/>
          </a:solidFill>
        </p:spPr>
      </p:sp>
      <p:sp>
        <p:nvSpPr>
          <p:cNvPr id="29" name="Text 27"/>
          <p:cNvSpPr/>
          <p:nvPr/>
        </p:nvSpPr>
        <p:spPr>
          <a:xfrm>
            <a:off x="5166360" y="4361688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Expected Result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424160" y="4361688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B2A57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07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4572000" y="5129784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FFC72C"/>
          </a:solidFill>
        </p:spPr>
      </p:sp>
      <p:sp>
        <p:nvSpPr>
          <p:cNvPr id="32" name="Text 30"/>
          <p:cNvSpPr/>
          <p:nvPr/>
        </p:nvSpPr>
        <p:spPr>
          <a:xfrm>
            <a:off x="5166360" y="5074920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Team member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424160" y="5074920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B2A57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08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49448" cy="249448"/>
          </a:xfrm>
          <a:prstGeom prst="roundRect">
            <a:avLst>
              <a:gd name="adj" fmla="val 29032"/>
            </a:avLst>
          </a:prstGeom>
          <a:solidFill>
            <a:srgbClr val="FFC72C"/>
          </a:solidFill>
        </p:spPr>
      </p:sp>
      <p:sp>
        <p:nvSpPr>
          <p:cNvPr id="3" name="Shape 1"/>
          <p:cNvSpPr/>
          <p:nvPr/>
        </p:nvSpPr>
        <p:spPr>
          <a:xfrm>
            <a:off x="801014" y="572414"/>
            <a:ext cx="249448" cy="249448"/>
          </a:xfrm>
          <a:prstGeom prst="roundRect">
            <a:avLst>
              <a:gd name="adj" fmla="val 29032"/>
            </a:avLst>
          </a:prstGeom>
          <a:solidFill>
            <a:srgbClr val="FF6B5B"/>
          </a:solidFill>
        </p:spPr>
      </p:sp>
      <p:sp>
        <p:nvSpPr>
          <p:cNvPr id="4" name="Text 2"/>
          <p:cNvSpPr/>
          <p:nvPr/>
        </p:nvSpPr>
        <p:spPr>
          <a:xfrm>
            <a:off x="1261872" y="283464"/>
            <a:ext cx="6858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926080" cy="4572000"/>
          </a:xfrm>
          <a:prstGeom prst="roundRect">
            <a:avLst>
              <a:gd name="adj" fmla="val 6875"/>
            </a:avLst>
          </a:prstGeom>
          <a:solidFill>
            <a:srgbClr val="FFF1C9"/>
          </a:solidFill>
        </p:spPr>
      </p:sp>
      <p:sp>
        <p:nvSpPr>
          <p:cNvPr id="6" name="Shape 4"/>
          <p:cNvSpPr/>
          <p:nvPr/>
        </p:nvSpPr>
        <p:spPr>
          <a:xfrm>
            <a:off x="1188720" y="2377440"/>
            <a:ext cx="1828800" cy="1280160"/>
          </a:xfrm>
          <a:prstGeom prst="wedgeRoundRectCallout">
            <a:avLst>
              <a:gd name="adj1" fmla="val -20833"/>
              <a:gd name="adj2" fmla="val 62500"/>
              <a:gd name="adj3" fmla="val 16667"/>
            </a:avLst>
          </a:prstGeom>
          <a:solidFill>
            <a:srgbClr val="FF6B5B"/>
          </a:solidFill>
        </p:spPr>
      </p:sp>
      <p:sp>
        <p:nvSpPr>
          <p:cNvPr id="7" name="Text 5"/>
          <p:cNvSpPr/>
          <p:nvPr/>
        </p:nvSpPr>
        <p:spPr>
          <a:xfrm>
            <a:off x="1188720" y="237744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SEO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51560" y="4617720"/>
            <a:ext cx="2103120" cy="457200"/>
          </a:xfrm>
          <a:prstGeom prst="roundRect">
            <a:avLst>
              <a:gd name="adj" fmla="val 24000"/>
            </a:avLst>
          </a:prstGeom>
          <a:solidFill>
            <a:srgbClr val="F5A623"/>
          </a:solidFill>
        </p:spPr>
      </p:sp>
      <p:sp>
        <p:nvSpPr>
          <p:cNvPr id="9" name="Shape 7"/>
          <p:cNvSpPr/>
          <p:nvPr/>
        </p:nvSpPr>
        <p:spPr>
          <a:xfrm>
            <a:off x="1051560" y="5212080"/>
            <a:ext cx="1371600" cy="457200"/>
          </a:xfrm>
          <a:prstGeom prst="roundRect">
            <a:avLst>
              <a:gd name="adj" fmla="val 24000"/>
            </a:avLst>
          </a:prstGeom>
          <a:ln w="31750">
            <a:solidFill>
              <a:srgbClr val="F5A6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1463040"/>
            <a:ext cx="2651760" cy="4572000"/>
          </a:xfrm>
          <a:prstGeom prst="roundRect">
            <a:avLst>
              <a:gd name="adj" fmla="val 7586"/>
            </a:avLst>
          </a:prstGeom>
          <a:solidFill>
            <a:srgbClr val="FFF1C9"/>
          </a:solidFill>
        </p:spPr>
      </p:sp>
      <p:sp>
        <p:nvSpPr>
          <p:cNvPr id="11" name="Shape 9"/>
          <p:cNvSpPr/>
          <p:nvPr/>
        </p:nvSpPr>
        <p:spPr>
          <a:xfrm>
            <a:off x="9464040" y="2377440"/>
            <a:ext cx="1463040" cy="1463040"/>
          </a:xfrm>
          <a:prstGeom prst="ellipse">
            <a:avLst/>
          </a:prstGeom>
          <a:solidFill>
            <a:srgbClr val="1B2A57"/>
          </a:solidFill>
        </p:spPr>
      </p:sp>
      <p:sp>
        <p:nvSpPr>
          <p:cNvPr id="12" name="Text 10"/>
          <p:cNvSpPr/>
          <p:nvPr/>
        </p:nvSpPr>
        <p:spPr>
          <a:xfrm>
            <a:off x="9464040" y="2377440"/>
            <a:ext cx="146304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n8n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235440" y="4160520"/>
            <a:ext cx="1920240" cy="457200"/>
          </a:xfrm>
          <a:prstGeom prst="roundRect">
            <a:avLst>
              <a:gd name="adj" fmla="val 24000"/>
            </a:avLst>
          </a:prstGeom>
          <a:solidFill>
            <a:srgbClr val="FF6B5B"/>
          </a:solidFill>
        </p:spPr>
      </p:sp>
      <p:sp>
        <p:nvSpPr>
          <p:cNvPr id="14" name="Shape 12"/>
          <p:cNvSpPr/>
          <p:nvPr/>
        </p:nvSpPr>
        <p:spPr>
          <a:xfrm>
            <a:off x="9509760" y="4800600"/>
            <a:ext cx="1371600" cy="457200"/>
          </a:xfrm>
          <a:prstGeom prst="roundRect">
            <a:avLst>
              <a:gd name="adj" fmla="val 24000"/>
            </a:avLst>
          </a:prstGeom>
          <a:ln w="31750">
            <a:solidFill>
              <a:srgbClr val="FFC7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1691640"/>
            <a:ext cx="4892040" cy="4206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การทำคอนเทนต์ให้ติดอันดับบน Google (SEO) คำตอบบน AI Search อย่าง ChatGPT หรือ Perplexity (AEO) และหน้าฟีด Facebook เป็นงานที่ต้องใช้ทั้งความรู้ด้านคีย์เวิร์ด โครงสร้างบทความ และความสม่ำเสมอในการโพสต์ แต่ทีมคอนเทนต์ส่วนใหญ่ยังเขียนและตรวจสอบทุกอย่างด้วยมือ ทำให้ผลิตได้ช้าและไม่สม่ำเสมอพอที่จะแข่งขัน</a:t>
            </a:r>
            <a:endParaRPr lang="en-US" sz="14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โครงการนี้นำแนวคิด AI Automation มาสร้างระบบผลิตคอนเทนต์อัตโนมัติบน n8n ให้ระบบค้นคีย์เวิร์ดและคำถามที่คนค้นหาจริง ร่างบทความตามโครงสร้างที่เครื่องมือค้นหาและ AI Search ให้ความสำคัญ ตรวจสอบคุณภาพก่อนเผยแพร่ และจัดคิวโพสต์ Facebook อัตโนมัติ เพื่อเพิ่มโอกาสติดอันดับต้น ๆ อย่างสม่ำเสมอ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49448" cy="249448"/>
          </a:xfrm>
          <a:prstGeom prst="roundRect">
            <a:avLst>
              <a:gd name="adj" fmla="val 29032"/>
            </a:avLst>
          </a:prstGeom>
          <a:solidFill>
            <a:srgbClr val="FFC72C"/>
          </a:solidFill>
        </p:spPr>
      </p:sp>
      <p:sp>
        <p:nvSpPr>
          <p:cNvPr id="3" name="Shape 1"/>
          <p:cNvSpPr/>
          <p:nvPr/>
        </p:nvSpPr>
        <p:spPr>
          <a:xfrm>
            <a:off x="801014" y="572414"/>
            <a:ext cx="249448" cy="249448"/>
          </a:xfrm>
          <a:prstGeom prst="roundRect">
            <a:avLst>
              <a:gd name="adj" fmla="val 29032"/>
            </a:avLst>
          </a:prstGeom>
          <a:solidFill>
            <a:srgbClr val="FF6B5B"/>
          </a:solidFill>
        </p:spPr>
      </p:sp>
      <p:sp>
        <p:nvSpPr>
          <p:cNvPr id="4" name="Text 2"/>
          <p:cNvSpPr/>
          <p:nvPr/>
        </p:nvSpPr>
        <p:spPr>
          <a:xfrm>
            <a:off x="1261872" y="283464"/>
            <a:ext cx="6858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Pain Point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423160" cy="2148840"/>
          </a:xfrm>
          <a:prstGeom prst="roundRect">
            <a:avLst>
              <a:gd name="adj" fmla="val 8511"/>
            </a:avLst>
          </a:prstGeom>
          <a:solidFill>
            <a:srgbClr val="FFF1C9"/>
          </a:solidFill>
        </p:spPr>
      </p:sp>
      <p:sp>
        <p:nvSpPr>
          <p:cNvPr id="6" name="Shape 4"/>
          <p:cNvSpPr/>
          <p:nvPr/>
        </p:nvSpPr>
        <p:spPr>
          <a:xfrm>
            <a:off x="1188720" y="1965960"/>
            <a:ext cx="1280160" cy="1280160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7" name="Shape 5"/>
          <p:cNvSpPr/>
          <p:nvPr/>
        </p:nvSpPr>
        <p:spPr>
          <a:xfrm>
            <a:off x="640080" y="3749040"/>
            <a:ext cx="2423160" cy="2148840"/>
          </a:xfrm>
          <a:prstGeom prst="roundRect">
            <a:avLst>
              <a:gd name="adj" fmla="val 8511"/>
            </a:avLst>
          </a:prstGeom>
          <a:solidFill>
            <a:srgbClr val="FFF1C9"/>
          </a:solidFill>
        </p:spPr>
      </p:sp>
      <p:sp>
        <p:nvSpPr>
          <p:cNvPr id="8" name="Shape 6"/>
          <p:cNvSpPr/>
          <p:nvPr/>
        </p:nvSpPr>
        <p:spPr>
          <a:xfrm>
            <a:off x="1143000" y="4251960"/>
            <a:ext cx="1417320" cy="1143000"/>
          </a:xfrm>
          <a:prstGeom prst="roundRect">
            <a:avLst>
              <a:gd name="adj" fmla="val 12800"/>
            </a:avLst>
          </a:prstGeom>
          <a:ln w="38100">
            <a:solidFill>
              <a:srgbClr val="FF6B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417320"/>
            <a:ext cx="566928" cy="566928"/>
          </a:xfrm>
          <a:prstGeom prst="ellipse">
            <a:avLst/>
          </a:prstGeom>
          <a:solidFill>
            <a:srgbClr val="FFC72C"/>
          </a:solidFill>
        </p:spPr>
      </p:sp>
      <p:sp>
        <p:nvSpPr>
          <p:cNvPr id="10" name="Text 8"/>
          <p:cNvSpPr/>
          <p:nvPr/>
        </p:nvSpPr>
        <p:spPr>
          <a:xfrm>
            <a:off x="3429000" y="141732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06240" y="13716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ผลิตคอนเทนต์ไม่ทันคู่แข่ง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06240" y="187452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ต้องหาหัวข้อ ค้นคีย์เวิร์ด และเขียนเองทุกขั้นตอน กว่าจะได้บทความ 1 ชิ้นใช้เวลานาน ทำให้โพสต์ไม่สม่ำเสมอพอที่จะแข่งขันด้าน SEO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429000" y="3044952"/>
            <a:ext cx="566928" cy="566928"/>
          </a:xfrm>
          <a:prstGeom prst="ellipse">
            <a:avLst/>
          </a:prstGeom>
          <a:solidFill>
            <a:srgbClr val="FFC72C"/>
          </a:solidFill>
        </p:spPr>
      </p:sp>
      <p:sp>
        <p:nvSpPr>
          <p:cNvPr id="14" name="Text 12"/>
          <p:cNvSpPr/>
          <p:nvPr/>
        </p:nvSpPr>
        <p:spPr>
          <a:xfrm>
            <a:off x="3429000" y="304495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06240" y="2999232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เขียนไม่ตรงกับสิ่งที่คนค้นหาจริง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206240" y="3502152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ไม่มีข้อมูลอ้างอิงว่าเครื่องมือค้นหาหรือ AI Search กำลังให้ความสำคัญกับคำถามแบบไหน คอนเทนต์ที่ออกมาจึงไม่ตอบโจทย์การจัดอันดับ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429000" y="4672584"/>
            <a:ext cx="566928" cy="566928"/>
          </a:xfrm>
          <a:prstGeom prst="ellipse">
            <a:avLst/>
          </a:prstGeom>
          <a:solidFill>
            <a:srgbClr val="FFC72C"/>
          </a:solidFill>
        </p:spPr>
      </p:sp>
      <p:sp>
        <p:nvSpPr>
          <p:cNvPr id="18" name="Text 16"/>
          <p:cNvSpPr/>
          <p:nvPr/>
        </p:nvSpPr>
        <p:spPr>
          <a:xfrm>
            <a:off x="3429000" y="467258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06240" y="4626864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ไม่มีระบบติดตามผลลัพธ์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206240" y="5129784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โพสต์ไปแล้วไม่รู้ว่าอันดับขยับขึ้นหรือลง ต้องเช็คเองทีละคำค้นหา ทำให้ปรับกลยุทธ์ล่าช้า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49448" cy="249448"/>
          </a:xfrm>
          <a:prstGeom prst="roundRect">
            <a:avLst>
              <a:gd name="adj" fmla="val 29032"/>
            </a:avLst>
          </a:prstGeom>
          <a:solidFill>
            <a:srgbClr val="FFC72C"/>
          </a:solidFill>
        </p:spPr>
      </p:sp>
      <p:sp>
        <p:nvSpPr>
          <p:cNvPr id="3" name="Shape 1"/>
          <p:cNvSpPr/>
          <p:nvPr/>
        </p:nvSpPr>
        <p:spPr>
          <a:xfrm>
            <a:off x="801014" y="572414"/>
            <a:ext cx="249448" cy="249448"/>
          </a:xfrm>
          <a:prstGeom prst="roundRect">
            <a:avLst>
              <a:gd name="adj" fmla="val 29032"/>
            </a:avLst>
          </a:prstGeom>
          <a:solidFill>
            <a:srgbClr val="FF6B5B"/>
          </a:solidFill>
        </p:spPr>
      </p:sp>
      <p:sp>
        <p:nvSpPr>
          <p:cNvPr id="4" name="Text 2"/>
          <p:cNvSpPr/>
          <p:nvPr/>
        </p:nvSpPr>
        <p:spPr>
          <a:xfrm>
            <a:off x="1261872" y="283464"/>
            <a:ext cx="6858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As 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965960" cy="1234440"/>
          </a:xfrm>
          <a:prstGeom prst="roundRect">
            <a:avLst>
              <a:gd name="adj" fmla="val 11852"/>
            </a:avLst>
          </a:prstGeom>
          <a:solidFill>
            <a:srgbClr val="FFC72C"/>
          </a:solidFill>
        </p:spPr>
      </p:sp>
      <p:sp>
        <p:nvSpPr>
          <p:cNvPr id="6" name="Text 4"/>
          <p:cNvSpPr/>
          <p:nvPr/>
        </p:nvSpPr>
        <p:spPr>
          <a:xfrm>
            <a:off x="749808" y="176479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1783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หาหัวข้อ/คีย์เวิร์ด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เอง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24328" y="2208276"/>
            <a:ext cx="219456" cy="201168"/>
          </a:xfrm>
          <a:prstGeom prst="rightArrow">
            <a:avLst/>
          </a:prstGeom>
          <a:solidFill>
            <a:srgbClr val="FF6B5B"/>
          </a:solidFill>
        </p:spPr>
      </p:sp>
      <p:sp>
        <p:nvSpPr>
          <p:cNvPr id="9" name="Shape 7"/>
          <p:cNvSpPr/>
          <p:nvPr/>
        </p:nvSpPr>
        <p:spPr>
          <a:xfrm>
            <a:off x="2752344" y="1563624"/>
            <a:ext cx="2185416" cy="1490472"/>
          </a:xfrm>
          <a:prstGeom prst="ellipse">
            <a:avLst/>
          </a:prstGeom>
          <a:ln w="31750">
            <a:solidFill>
              <a:srgbClr val="FF6B5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62072" y="1691640"/>
            <a:ext cx="1965960" cy="1234440"/>
          </a:xfrm>
          <a:prstGeom prst="roundRect">
            <a:avLst>
              <a:gd name="adj" fmla="val 11852"/>
            </a:avLst>
          </a:prstGeom>
          <a:solidFill>
            <a:srgbClr val="FFC72C"/>
          </a:solidFill>
        </p:spPr>
      </p:sp>
      <p:sp>
        <p:nvSpPr>
          <p:cNvPr id="11" name="Text 9"/>
          <p:cNvSpPr/>
          <p:nvPr/>
        </p:nvSpPr>
        <p:spPr>
          <a:xfrm>
            <a:off x="2971800" y="176479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53512" y="2103120"/>
            <a:ext cx="1783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เขียนบทความ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ด้วยมือ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46320" y="2208276"/>
            <a:ext cx="219456" cy="201168"/>
          </a:xfrm>
          <a:prstGeom prst="rightArrow">
            <a:avLst/>
          </a:prstGeom>
          <a:solidFill>
            <a:srgbClr val="FF6B5B"/>
          </a:solidFill>
        </p:spPr>
      </p:sp>
      <p:sp>
        <p:nvSpPr>
          <p:cNvPr id="14" name="Shape 12"/>
          <p:cNvSpPr/>
          <p:nvPr/>
        </p:nvSpPr>
        <p:spPr>
          <a:xfrm>
            <a:off x="4974336" y="1563624"/>
            <a:ext cx="2185416" cy="1490472"/>
          </a:xfrm>
          <a:prstGeom prst="ellipse">
            <a:avLst/>
          </a:prstGeom>
          <a:ln w="31750">
            <a:solidFill>
              <a:srgbClr val="FF6B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84064" y="1691640"/>
            <a:ext cx="1965960" cy="1234440"/>
          </a:xfrm>
          <a:prstGeom prst="roundRect">
            <a:avLst>
              <a:gd name="adj" fmla="val 11852"/>
            </a:avLst>
          </a:prstGeom>
          <a:solidFill>
            <a:srgbClr val="FFC72C"/>
          </a:solidFill>
        </p:spPr>
      </p:sp>
      <p:sp>
        <p:nvSpPr>
          <p:cNvPr id="16" name="Text 14"/>
          <p:cNvSpPr/>
          <p:nvPr/>
        </p:nvSpPr>
        <p:spPr>
          <a:xfrm>
            <a:off x="5193792" y="176479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75504" y="2103120"/>
            <a:ext cx="1783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ตรวจสอบ SEO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ทีละจุดเอง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068312" y="2208276"/>
            <a:ext cx="219456" cy="201168"/>
          </a:xfrm>
          <a:prstGeom prst="rightArrow">
            <a:avLst/>
          </a:prstGeom>
          <a:solidFill>
            <a:srgbClr val="FF6B5B"/>
          </a:solidFill>
        </p:spPr>
      </p:sp>
      <p:sp>
        <p:nvSpPr>
          <p:cNvPr id="19" name="Shape 17"/>
          <p:cNvSpPr/>
          <p:nvPr/>
        </p:nvSpPr>
        <p:spPr>
          <a:xfrm>
            <a:off x="7196328" y="1563624"/>
            <a:ext cx="2185416" cy="1490472"/>
          </a:xfrm>
          <a:prstGeom prst="ellipse">
            <a:avLst/>
          </a:prstGeom>
          <a:ln w="31750">
            <a:solidFill>
              <a:srgbClr val="FF6B5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06056" y="1691640"/>
            <a:ext cx="1965960" cy="1234440"/>
          </a:xfrm>
          <a:prstGeom prst="roundRect">
            <a:avLst>
              <a:gd name="adj" fmla="val 11852"/>
            </a:avLst>
          </a:prstGeom>
          <a:solidFill>
            <a:srgbClr val="FFC72C"/>
          </a:solidFill>
        </p:spPr>
      </p:sp>
      <p:sp>
        <p:nvSpPr>
          <p:cNvPr id="21" name="Text 19"/>
          <p:cNvSpPr/>
          <p:nvPr/>
        </p:nvSpPr>
        <p:spPr>
          <a:xfrm>
            <a:off x="7415784" y="176479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97496" y="2103120"/>
            <a:ext cx="1783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โพสต์ Facebook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ตามความรู้สึก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290304" y="2208276"/>
            <a:ext cx="219456" cy="201168"/>
          </a:xfrm>
          <a:prstGeom prst="rightArrow">
            <a:avLst/>
          </a:prstGeom>
          <a:solidFill>
            <a:srgbClr val="FF6B5B"/>
          </a:solidFill>
        </p:spPr>
      </p:sp>
      <p:sp>
        <p:nvSpPr>
          <p:cNvPr id="24" name="Shape 22"/>
          <p:cNvSpPr/>
          <p:nvPr/>
        </p:nvSpPr>
        <p:spPr>
          <a:xfrm>
            <a:off x="9418320" y="1563624"/>
            <a:ext cx="2185416" cy="1490472"/>
          </a:xfrm>
          <a:prstGeom prst="ellipse">
            <a:avLst/>
          </a:prstGeom>
          <a:ln w="31750">
            <a:solidFill>
              <a:srgbClr val="FF6B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28048" y="1691640"/>
            <a:ext cx="1965960" cy="1234440"/>
          </a:xfrm>
          <a:prstGeom prst="roundRect">
            <a:avLst>
              <a:gd name="adj" fmla="val 11852"/>
            </a:avLst>
          </a:prstGeom>
          <a:solidFill>
            <a:srgbClr val="FFC72C"/>
          </a:solidFill>
        </p:spPr>
      </p:sp>
      <p:sp>
        <p:nvSpPr>
          <p:cNvPr id="26" name="Text 24"/>
          <p:cNvSpPr/>
          <p:nvPr/>
        </p:nvSpPr>
        <p:spPr>
          <a:xfrm>
            <a:off x="9637776" y="176479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19488" y="2103120"/>
            <a:ext cx="1783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เช็คอันดับด้วยมือ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ทีละคำค้นหา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32461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ผลกระทบที่เกิด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40080" y="3794760"/>
            <a:ext cx="2606040" cy="1417320"/>
          </a:xfrm>
          <a:prstGeom prst="roundRect">
            <a:avLst>
              <a:gd name="adj" fmla="val 10323"/>
            </a:avLst>
          </a:prstGeom>
          <a:solidFill>
            <a:srgbClr val="F5A623"/>
          </a:solidFill>
        </p:spPr>
      </p:sp>
      <p:sp>
        <p:nvSpPr>
          <p:cNvPr id="30" name="Text 28"/>
          <p:cNvSpPr/>
          <p:nvPr/>
        </p:nvSpPr>
        <p:spPr>
          <a:xfrm>
            <a:off x="777240" y="393192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4–6 ชม.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77240" y="448056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เวลาเฉลี่ยเขียนบทความ 1 ชิ้น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474720" y="3794760"/>
            <a:ext cx="2606040" cy="1417320"/>
          </a:xfrm>
          <a:prstGeom prst="roundRect">
            <a:avLst>
              <a:gd name="adj" fmla="val 10323"/>
            </a:avLst>
          </a:prstGeom>
          <a:solidFill>
            <a:srgbClr val="F5A623"/>
          </a:solidFill>
        </p:spPr>
      </p:sp>
      <p:sp>
        <p:nvSpPr>
          <p:cNvPr id="33" name="Text 31"/>
          <p:cNvSpPr/>
          <p:nvPr/>
        </p:nvSpPr>
        <p:spPr>
          <a:xfrm>
            <a:off x="3611880" y="393192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2–3 ชิ้น/สัปดาห์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611880" y="448056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จำนวนคอนเทนต์ที่ผลิตได้จริง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309360" y="3794760"/>
            <a:ext cx="2606040" cy="1417320"/>
          </a:xfrm>
          <a:prstGeom prst="roundRect">
            <a:avLst>
              <a:gd name="adj" fmla="val 10323"/>
            </a:avLst>
          </a:prstGeom>
          <a:solidFill>
            <a:srgbClr val="F5A623"/>
          </a:solidFill>
        </p:spPr>
      </p:sp>
      <p:sp>
        <p:nvSpPr>
          <p:cNvPr id="36" name="Text 34"/>
          <p:cNvSpPr/>
          <p:nvPr/>
        </p:nvSpPr>
        <p:spPr>
          <a:xfrm>
            <a:off x="6446520" y="393192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ไม่สม่ำเสมอ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446520" y="448056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ตารางโพสต์ Facebook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144000" y="3794760"/>
            <a:ext cx="2606040" cy="1417320"/>
          </a:xfrm>
          <a:prstGeom prst="roundRect">
            <a:avLst>
              <a:gd name="adj" fmla="val 10323"/>
            </a:avLst>
          </a:prstGeom>
          <a:solidFill>
            <a:srgbClr val="F5A623"/>
          </a:solidFill>
        </p:spPr>
      </p:sp>
      <p:sp>
        <p:nvSpPr>
          <p:cNvPr id="39" name="Text 37"/>
          <p:cNvSpPr/>
          <p:nvPr/>
        </p:nvSpPr>
        <p:spPr>
          <a:xfrm>
            <a:off x="9281160" y="393192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ไม่มี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281160" y="448056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ระบบติดตามอันดับอัตโนมัติ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40080" y="53492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9A9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*ตัวเลขประมาณการเบื้องต้น ควรแทนที่ด้วยข้อมูลจริงของธุรกิจคุณ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49448" cy="249448"/>
          </a:xfrm>
          <a:prstGeom prst="roundRect">
            <a:avLst>
              <a:gd name="adj" fmla="val 29032"/>
            </a:avLst>
          </a:prstGeom>
          <a:solidFill>
            <a:srgbClr val="FFC72C"/>
          </a:solidFill>
        </p:spPr>
      </p:sp>
      <p:sp>
        <p:nvSpPr>
          <p:cNvPr id="3" name="Shape 1"/>
          <p:cNvSpPr/>
          <p:nvPr/>
        </p:nvSpPr>
        <p:spPr>
          <a:xfrm>
            <a:off x="801014" y="572414"/>
            <a:ext cx="249448" cy="249448"/>
          </a:xfrm>
          <a:prstGeom prst="roundRect">
            <a:avLst>
              <a:gd name="adj" fmla="val 29032"/>
            </a:avLst>
          </a:prstGeom>
          <a:solidFill>
            <a:srgbClr val="FF6B5B"/>
          </a:solidFill>
        </p:spPr>
      </p:sp>
      <p:sp>
        <p:nvSpPr>
          <p:cNvPr id="4" name="Text 2"/>
          <p:cNvSpPr/>
          <p:nvPr/>
        </p:nvSpPr>
        <p:spPr>
          <a:xfrm>
            <a:off x="1261872" y="283464"/>
            <a:ext cx="6858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To Be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246120" cy="3977640"/>
          </a:xfrm>
          <a:prstGeom prst="roundRect">
            <a:avLst>
              <a:gd name="adj" fmla="val 5634"/>
            </a:avLst>
          </a:prstGeom>
          <a:solidFill>
            <a:srgbClr val="FFF1C9"/>
          </a:solidFill>
        </p:spPr>
      </p:sp>
      <p:sp>
        <p:nvSpPr>
          <p:cNvPr id="6" name="Text 4"/>
          <p:cNvSpPr/>
          <p:nvPr/>
        </p:nvSpPr>
        <p:spPr>
          <a:xfrm>
            <a:off x="868680" y="1627632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57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System message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2788920" cy="3246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Role: </a:t>
            </a:r>
            <a:r>
              <a:rPr lang="en-US" sz="1250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ผู้ช่วยสร้างคอนเทนต์อัจฉริยะ เข้าใจหลัก SEO/AEO เป็นมืออาชีพด้านการเขียน</a:t>
            </a:r>
            <a:endParaRPr lang="en-US" sz="1250" dirty="0"/>
          </a:p>
          <a:p>
            <a:pPr marL="0" indent="0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Task:</a:t>
            </a:r>
            <a:endParaRPr lang="en-US" sz="1250" dirty="0"/>
          </a:p>
          <a:p>
            <a:pPr marL="0" indent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• ค้นคีย์เวิร์ดและคำถามที่คนค้นหาจริง</a:t>
            </a:r>
            <a:endParaRPr lang="en-US" sz="1250" dirty="0"/>
          </a:p>
          <a:p>
            <a:pPr marL="0" indent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• ร่างบทความตามโครงสร้างที่ SEO/AEO ให้ความสำคัญ</a:t>
            </a:r>
            <a:endParaRPr lang="en-US" sz="1250" dirty="0"/>
          </a:p>
          <a:p>
            <a:pPr marL="0" indent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• ตรวจสอบคุณภาพ + SEO checklist ก่อนเผยแพร่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• จัดคิวโพสต์ Facebook อัตโนมัติตามช่วงเวลาที่เหมาะสม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60520" y="1920240"/>
            <a:ext cx="1353312" cy="1234440"/>
          </a:xfrm>
          <a:prstGeom prst="roundRect">
            <a:avLst>
              <a:gd name="adj" fmla="val 10370"/>
            </a:avLst>
          </a:prstGeom>
          <a:solidFill>
            <a:srgbClr val="1B2A57"/>
          </a:solidFill>
        </p:spPr>
      </p:sp>
      <p:sp>
        <p:nvSpPr>
          <p:cNvPr id="9" name="Text 7"/>
          <p:cNvSpPr/>
          <p:nvPr/>
        </p:nvSpPr>
        <p:spPr>
          <a:xfrm>
            <a:off x="4215384" y="1993392"/>
            <a:ext cx="1243584" cy="1088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โจทย์ /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หัวข้อ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0" y="3227832"/>
            <a:ext cx="14447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รับหัวข้อ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522976" y="2455164"/>
            <a:ext cx="128016" cy="164592"/>
          </a:xfrm>
          <a:prstGeom prst="rightArrow">
            <a:avLst/>
          </a:prstGeom>
          <a:solidFill>
            <a:srgbClr val="FF6B5B"/>
          </a:solidFill>
        </p:spPr>
      </p:sp>
      <p:sp>
        <p:nvSpPr>
          <p:cNvPr id="12" name="Shape 10"/>
          <p:cNvSpPr/>
          <p:nvPr/>
        </p:nvSpPr>
        <p:spPr>
          <a:xfrm>
            <a:off x="5641848" y="1920240"/>
            <a:ext cx="1353312" cy="1234440"/>
          </a:xfrm>
          <a:prstGeom prst="roundRect">
            <a:avLst>
              <a:gd name="adj" fmla="val 10370"/>
            </a:avLst>
          </a:prstGeom>
          <a:solidFill>
            <a:srgbClr val="1B2A57"/>
          </a:solidFill>
        </p:spPr>
      </p:sp>
      <p:sp>
        <p:nvSpPr>
          <p:cNvPr id="13" name="Text 11"/>
          <p:cNvSpPr/>
          <p:nvPr/>
        </p:nvSpPr>
        <p:spPr>
          <a:xfrm>
            <a:off x="5696712" y="1993392"/>
            <a:ext cx="1243584" cy="1088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Research Agent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596128" y="3227832"/>
            <a:ext cx="14447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ค้นคีย์เวิร์ด+คำถาม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04304" y="2455164"/>
            <a:ext cx="128016" cy="164592"/>
          </a:xfrm>
          <a:prstGeom prst="rightArrow">
            <a:avLst/>
          </a:prstGeom>
          <a:solidFill>
            <a:srgbClr val="FF6B5B"/>
          </a:solidFill>
        </p:spPr>
      </p:sp>
      <p:sp>
        <p:nvSpPr>
          <p:cNvPr id="16" name="Shape 14"/>
          <p:cNvSpPr/>
          <p:nvPr/>
        </p:nvSpPr>
        <p:spPr>
          <a:xfrm>
            <a:off x="7123176" y="1920240"/>
            <a:ext cx="1353312" cy="1234440"/>
          </a:xfrm>
          <a:prstGeom prst="roundRect">
            <a:avLst>
              <a:gd name="adj" fmla="val 10370"/>
            </a:avLst>
          </a:prstGeom>
          <a:solidFill>
            <a:srgbClr val="1B2A57"/>
          </a:solidFill>
        </p:spPr>
      </p:sp>
      <p:sp>
        <p:nvSpPr>
          <p:cNvPr id="17" name="Text 15"/>
          <p:cNvSpPr/>
          <p:nvPr/>
        </p:nvSpPr>
        <p:spPr>
          <a:xfrm>
            <a:off x="7178040" y="1993392"/>
            <a:ext cx="1243584" cy="1088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AI ร่างบทความ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+ SEO Checklist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77456" y="3227832"/>
            <a:ext cx="14447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เขียน+ตรวจสอบ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485632" y="2455164"/>
            <a:ext cx="128016" cy="164592"/>
          </a:xfrm>
          <a:prstGeom prst="rightArrow">
            <a:avLst/>
          </a:prstGeom>
          <a:solidFill>
            <a:srgbClr val="FF6B5B"/>
          </a:solidFill>
        </p:spPr>
      </p:sp>
      <p:sp>
        <p:nvSpPr>
          <p:cNvPr id="20" name="Shape 18"/>
          <p:cNvSpPr/>
          <p:nvPr/>
        </p:nvSpPr>
        <p:spPr>
          <a:xfrm>
            <a:off x="8604504" y="1920240"/>
            <a:ext cx="1353312" cy="1234440"/>
          </a:xfrm>
          <a:prstGeom prst="roundRect">
            <a:avLst>
              <a:gd name="adj" fmla="val 10370"/>
            </a:avLst>
          </a:prstGeom>
          <a:solidFill>
            <a:srgbClr val="1B2A57"/>
          </a:solidFill>
        </p:spPr>
      </p:sp>
      <p:sp>
        <p:nvSpPr>
          <p:cNvPr id="21" name="Text 19"/>
          <p:cNvSpPr/>
          <p:nvPr/>
        </p:nvSpPr>
        <p:spPr>
          <a:xfrm>
            <a:off x="8659368" y="1993392"/>
            <a:ext cx="1243584" cy="1088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เผยแพร่เว็บ +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จัดคิว Facebook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558784" y="3227832"/>
            <a:ext cx="14447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publish+schedule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966960" y="2455164"/>
            <a:ext cx="128016" cy="164592"/>
          </a:xfrm>
          <a:prstGeom prst="rightArrow">
            <a:avLst/>
          </a:prstGeom>
          <a:solidFill>
            <a:srgbClr val="FF6B5B"/>
          </a:solidFill>
        </p:spPr>
      </p:sp>
      <p:sp>
        <p:nvSpPr>
          <p:cNvPr id="24" name="Shape 22"/>
          <p:cNvSpPr/>
          <p:nvPr/>
        </p:nvSpPr>
        <p:spPr>
          <a:xfrm>
            <a:off x="10085832" y="1920240"/>
            <a:ext cx="1353312" cy="1234440"/>
          </a:xfrm>
          <a:prstGeom prst="roundRect">
            <a:avLst>
              <a:gd name="adj" fmla="val 10370"/>
            </a:avLst>
          </a:prstGeom>
          <a:solidFill>
            <a:srgbClr val="1B2A57"/>
          </a:solidFill>
        </p:spPr>
      </p:sp>
      <p:sp>
        <p:nvSpPr>
          <p:cNvPr id="25" name="Text 23"/>
          <p:cNvSpPr/>
          <p:nvPr/>
        </p:nvSpPr>
        <p:spPr>
          <a:xfrm>
            <a:off x="10140696" y="1993392"/>
            <a:ext cx="1243584" cy="1088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ติดตามอันดับ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อัตโนมัติ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040112" y="3227832"/>
            <a:ext cx="14447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track ranking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60520" y="3794760"/>
            <a:ext cx="7360920" cy="1417320"/>
          </a:xfrm>
          <a:prstGeom prst="roundRect">
            <a:avLst>
              <a:gd name="adj" fmla="val 10323"/>
            </a:avLst>
          </a:prstGeom>
          <a:solidFill>
            <a:srgbClr val="FCE3BE"/>
          </a:solidFill>
        </p:spPr>
      </p:sp>
      <p:sp>
        <p:nvSpPr>
          <p:cNvPr id="28" name="Text 26"/>
          <p:cNvSpPr/>
          <p:nvPr/>
        </p:nvSpPr>
        <p:spPr>
          <a:xfrm>
            <a:off x="4434840" y="3794760"/>
            <a:ext cx="68580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B2A57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รับหัวข้อ → ค้นคีย์เวิร์ด/คำถามที่คนค้นหาจริง → AI ร่างบทความ + เช็ค SEO</a:t>
            </a:r>
            <a:endParaRPr lang="en-US" sz="14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B2A57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→ เผยแพร่เว็บ/จัดคิว Facebook → ติดตามอันดับอัตโนมัติ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49448" cy="249448"/>
          </a:xfrm>
          <a:prstGeom prst="roundRect">
            <a:avLst>
              <a:gd name="adj" fmla="val 29032"/>
            </a:avLst>
          </a:prstGeom>
          <a:solidFill>
            <a:srgbClr val="FFC72C"/>
          </a:solidFill>
        </p:spPr>
      </p:sp>
      <p:sp>
        <p:nvSpPr>
          <p:cNvPr id="3" name="Shape 1"/>
          <p:cNvSpPr/>
          <p:nvPr/>
        </p:nvSpPr>
        <p:spPr>
          <a:xfrm>
            <a:off x="801014" y="572414"/>
            <a:ext cx="249448" cy="249448"/>
          </a:xfrm>
          <a:prstGeom prst="roundRect">
            <a:avLst>
              <a:gd name="adj" fmla="val 29032"/>
            </a:avLst>
          </a:prstGeom>
          <a:solidFill>
            <a:srgbClr val="FF6B5B"/>
          </a:solidFill>
        </p:spPr>
      </p:sp>
      <p:sp>
        <p:nvSpPr>
          <p:cNvPr id="4" name="Text 2"/>
          <p:cNvSpPr/>
          <p:nvPr/>
        </p:nvSpPr>
        <p:spPr>
          <a:xfrm>
            <a:off x="1261872" y="283464"/>
            <a:ext cx="6858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Expected Result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98755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ผลลัพธ์ที่คาดหวังเมื่อใช้งานจริง (ตัวอย่างประมาณการ ไม่ใช่การรับประกันอันดับ)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3520440" cy="1417320"/>
          </a:xfrm>
          <a:prstGeom prst="roundRect">
            <a:avLst>
              <a:gd name="adj" fmla="val 10323"/>
            </a:avLst>
          </a:prstGeom>
          <a:solidFill>
            <a:srgbClr val="F5A623"/>
          </a:solidFill>
        </p:spPr>
      </p:sp>
      <p:sp>
        <p:nvSpPr>
          <p:cNvPr id="7" name="Text 5"/>
          <p:cNvSpPr/>
          <p:nvPr/>
        </p:nvSpPr>
        <p:spPr>
          <a:xfrm>
            <a:off x="822960" y="1627632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4–6 ชม.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→ ต่ำกว่า 1 ชม.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เวลาผลิตคอนเทนต์ต่อชิ้น ลดลงอย่างมาก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1508760"/>
            <a:ext cx="3520440" cy="1417320"/>
          </a:xfrm>
          <a:prstGeom prst="roundRect">
            <a:avLst>
              <a:gd name="adj" fmla="val 10323"/>
            </a:avLst>
          </a:prstGeom>
          <a:solidFill>
            <a:srgbClr val="F5A623"/>
          </a:solidFill>
        </p:spPr>
      </p:sp>
      <p:sp>
        <p:nvSpPr>
          <p:cNvPr id="10" name="Text 8"/>
          <p:cNvSpPr/>
          <p:nvPr/>
        </p:nvSpPr>
        <p:spPr>
          <a:xfrm>
            <a:off x="4617720" y="1627632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2–3 ชิ้น/สัปดาห์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→ ผลิตได้สม่ำเสมอมากขึ้น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242316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ความถี่คอนเทนต์เพิ่มขึ้นชัดเจน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1508760"/>
            <a:ext cx="3520440" cy="1417320"/>
          </a:xfrm>
          <a:prstGeom prst="roundRect">
            <a:avLst>
              <a:gd name="adj" fmla="val 10323"/>
            </a:avLst>
          </a:prstGeom>
          <a:solidFill>
            <a:srgbClr val="F5A623"/>
          </a:solidFill>
        </p:spPr>
      </p:sp>
      <p:sp>
        <p:nvSpPr>
          <p:cNvPr id="13" name="Text 11"/>
          <p:cNvSpPr/>
          <p:nvPr/>
        </p:nvSpPr>
        <p:spPr>
          <a:xfrm>
            <a:off x="8412480" y="1627632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ไม่มีระบบติดตาม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→ มีรายงานอันดับอัตโนมัติ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0" y="242316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เห็นความเปลี่ยนแปลงอันดับได้ต่อเนื่อง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090672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เปรียบเทียบ ก่อน–หลัง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640080" y="3566160"/>
          <a:ext cx="10881360" cy="2743200"/>
        </p:xfrm>
        <a:graphic>
          <a:graphicData uri="http://schemas.openxmlformats.org/drawingml/2006/table">
            <a:tbl>
              <a:tblPr/>
              <a:tblGrid>
                <a:gridCol w="2377440"/>
                <a:gridCol w="4160520"/>
                <a:gridCol w="434340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anose="00000500000000000000" pitchFamily="34" charset="0"/>
                          <a:ea typeface="Prompt" panose="00000500000000000000" pitchFamily="34" charset="-122"/>
                          <a:cs typeface="Prompt" panose="00000500000000000000" pitchFamily="34" charset="-120"/>
                        </a:rPr>
                        <a:t>หัวข้อ</a:t>
                      </a:r>
                      <a:endParaRPr lang="en-US" sz="1200" dirty="0">
                        <a:latin typeface="Prompt" panose="00000500000000000000" pitchFamily="34" charset="0"/>
                        <a:ea typeface="Prompt" panose="00000500000000000000" pitchFamily="34" charset="0"/>
                        <a:cs typeface="Prompt" panose="00000500000000000000" pitchFamily="34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anose="00000500000000000000" pitchFamily="34" charset="0"/>
                          <a:ea typeface="Prompt" panose="00000500000000000000" pitchFamily="34" charset="-122"/>
                          <a:cs typeface="Prompt" panose="00000500000000000000" pitchFamily="34" charset="-120"/>
                        </a:rPr>
                        <a:t>As-Is (ปัจจุบัน)</a:t>
                      </a:r>
                      <a:endParaRPr lang="en-US" sz="1200" dirty="0">
                        <a:latin typeface="Prompt" panose="00000500000000000000" pitchFamily="34" charset="0"/>
                        <a:ea typeface="Prompt" panose="00000500000000000000" pitchFamily="34" charset="0"/>
                        <a:cs typeface="Prompt" panose="00000500000000000000" pitchFamily="34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anose="00000500000000000000" pitchFamily="34" charset="0"/>
                          <a:ea typeface="Prompt" panose="00000500000000000000" pitchFamily="34" charset="-122"/>
                          <a:cs typeface="Prompt" panose="00000500000000000000" pitchFamily="34" charset="-120"/>
                        </a:rPr>
                        <a:t>To-Be (หลังใช้ AI Automation)</a:t>
                      </a:r>
                      <a:endParaRPr lang="en-US" sz="1200" dirty="0">
                        <a:latin typeface="Prompt" panose="00000500000000000000" pitchFamily="34" charset="0"/>
                        <a:ea typeface="Prompt" panose="00000500000000000000" pitchFamily="34" charset="0"/>
                        <a:cs typeface="Prompt" panose="00000500000000000000" pitchFamily="34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A6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Prompt" panose="00000500000000000000" pitchFamily="34" charset="0"/>
                          <a:ea typeface="Prompt" panose="00000500000000000000" pitchFamily="34" charset="-122"/>
                          <a:cs typeface="Prompt" panose="00000500000000000000" pitchFamily="34" charset="-120"/>
                        </a:rPr>
                        <a:t>การหาหัวข้อ</a:t>
                      </a:r>
                      <a:endParaRPr lang="en-US" sz="1200" dirty="0">
                        <a:latin typeface="Prompt" panose="00000500000000000000" pitchFamily="34" charset="0"/>
                        <a:ea typeface="Prompt" panose="00000500000000000000" pitchFamily="34" charset="0"/>
                        <a:cs typeface="Prompt" panose="00000500000000000000" pitchFamily="34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Prompt" panose="00000500000000000000" pitchFamily="34" charset="0"/>
                          <a:ea typeface="Prompt" panose="00000500000000000000" pitchFamily="34" charset="-122"/>
                          <a:cs typeface="Prompt" panose="00000500000000000000" pitchFamily="34" charset="-120"/>
                        </a:rPr>
                        <a:t>เดาเองจากประสบการณ์</a:t>
                      </a:r>
                      <a:endParaRPr lang="en-US" sz="1200" dirty="0">
                        <a:latin typeface="Prompt" panose="00000500000000000000" pitchFamily="34" charset="0"/>
                        <a:ea typeface="Prompt" panose="00000500000000000000" pitchFamily="34" charset="0"/>
                        <a:cs typeface="Prompt" panose="00000500000000000000" pitchFamily="34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Prompt" panose="00000500000000000000" pitchFamily="34" charset="0"/>
                          <a:ea typeface="Prompt" panose="00000500000000000000" pitchFamily="34" charset="-122"/>
                          <a:cs typeface="Prompt" panose="00000500000000000000" pitchFamily="34" charset="-120"/>
                        </a:rPr>
                        <a:t>ค้นจากคีย์เวิร์ด/คำถามจริงที่คนค้นหา</a:t>
                      </a:r>
                      <a:endParaRPr lang="en-US" sz="1200" dirty="0">
                        <a:latin typeface="Prompt" panose="00000500000000000000" pitchFamily="34" charset="0"/>
                        <a:ea typeface="Prompt" panose="00000500000000000000" pitchFamily="34" charset="0"/>
                        <a:cs typeface="Prompt" panose="00000500000000000000" pitchFamily="34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Prompt" panose="00000500000000000000" pitchFamily="34" charset="0"/>
                          <a:ea typeface="Prompt" panose="00000500000000000000" pitchFamily="34" charset="-122"/>
                          <a:cs typeface="Prompt" panose="00000500000000000000" pitchFamily="34" charset="-120"/>
                        </a:rPr>
                        <a:t>การเขียน</a:t>
                      </a:r>
                      <a:endParaRPr lang="en-US" sz="1200" dirty="0">
                        <a:latin typeface="Prompt" panose="00000500000000000000" pitchFamily="34" charset="0"/>
                        <a:ea typeface="Prompt" panose="00000500000000000000" pitchFamily="34" charset="0"/>
                        <a:cs typeface="Prompt" panose="00000500000000000000" pitchFamily="34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Prompt" panose="00000500000000000000" pitchFamily="34" charset="0"/>
                          <a:ea typeface="Prompt" panose="00000500000000000000" pitchFamily="34" charset="-122"/>
                          <a:cs typeface="Prompt" panose="00000500000000000000" pitchFamily="34" charset="-120"/>
                        </a:rPr>
                        <a:t>เขียนมือทั้งหมด</a:t>
                      </a:r>
                      <a:endParaRPr lang="en-US" sz="1200" dirty="0">
                        <a:latin typeface="Prompt" panose="00000500000000000000" pitchFamily="34" charset="0"/>
                        <a:ea typeface="Prompt" panose="00000500000000000000" pitchFamily="34" charset="0"/>
                        <a:cs typeface="Prompt" panose="00000500000000000000" pitchFamily="34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Prompt" panose="00000500000000000000" pitchFamily="34" charset="0"/>
                          <a:ea typeface="Prompt" panose="00000500000000000000" pitchFamily="34" charset="-122"/>
                          <a:cs typeface="Prompt" panose="00000500000000000000" pitchFamily="34" charset="-120"/>
                        </a:rPr>
                        <a:t>AI ร่างต้นฉบับ + คนตรวจทาน</a:t>
                      </a:r>
                      <a:endParaRPr lang="en-US" sz="1200" dirty="0">
                        <a:latin typeface="Prompt" panose="00000500000000000000" pitchFamily="34" charset="0"/>
                        <a:ea typeface="Prompt" panose="00000500000000000000" pitchFamily="34" charset="0"/>
                        <a:cs typeface="Prompt" panose="00000500000000000000" pitchFamily="34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1C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Prompt" panose="00000500000000000000" pitchFamily="34" charset="0"/>
                          <a:ea typeface="Prompt" panose="00000500000000000000" pitchFamily="34" charset="-122"/>
                          <a:cs typeface="Prompt" panose="00000500000000000000" pitchFamily="34" charset="-120"/>
                        </a:rPr>
                        <a:t>การตรวจสอบ SEO</a:t>
                      </a:r>
                      <a:endParaRPr lang="en-US" sz="1200" dirty="0">
                        <a:latin typeface="Prompt" panose="00000500000000000000" pitchFamily="34" charset="0"/>
                        <a:ea typeface="Prompt" panose="00000500000000000000" pitchFamily="34" charset="0"/>
                        <a:cs typeface="Prompt" panose="00000500000000000000" pitchFamily="34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Prompt" panose="00000500000000000000" pitchFamily="34" charset="0"/>
                          <a:ea typeface="Prompt" panose="00000500000000000000" pitchFamily="34" charset="-122"/>
                          <a:cs typeface="Prompt" panose="00000500000000000000" pitchFamily="34" charset="-120"/>
                        </a:rPr>
                        <a:t>เช็คเองทีละจุด</a:t>
                      </a:r>
                      <a:endParaRPr lang="en-US" sz="1200" dirty="0">
                        <a:latin typeface="Prompt" panose="00000500000000000000" pitchFamily="34" charset="0"/>
                        <a:ea typeface="Prompt" panose="00000500000000000000" pitchFamily="34" charset="0"/>
                        <a:cs typeface="Prompt" panose="00000500000000000000" pitchFamily="34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Prompt" panose="00000500000000000000" pitchFamily="34" charset="0"/>
                          <a:ea typeface="Prompt" panose="00000500000000000000" pitchFamily="34" charset="-122"/>
                          <a:cs typeface="Prompt" panose="00000500000000000000" pitchFamily="34" charset="-120"/>
                        </a:rPr>
                        <a:t>มี Checklist อัตโนมัติก่อนเผยแพร่</a:t>
                      </a:r>
                      <a:endParaRPr lang="en-US" sz="1200" dirty="0">
                        <a:latin typeface="Prompt" panose="00000500000000000000" pitchFamily="34" charset="0"/>
                        <a:ea typeface="Prompt" panose="00000500000000000000" pitchFamily="34" charset="0"/>
                        <a:cs typeface="Prompt" panose="00000500000000000000" pitchFamily="34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Prompt" panose="00000500000000000000" pitchFamily="34" charset="0"/>
                          <a:ea typeface="Prompt" panose="00000500000000000000" pitchFamily="34" charset="-122"/>
                          <a:cs typeface="Prompt" panose="00000500000000000000" pitchFamily="34" charset="-120"/>
                        </a:rPr>
                        <a:t>การโพสต์ Facebook</a:t>
                      </a:r>
                      <a:endParaRPr lang="en-US" sz="1200" dirty="0">
                        <a:latin typeface="Prompt" panose="00000500000000000000" pitchFamily="34" charset="0"/>
                        <a:ea typeface="Prompt" panose="00000500000000000000" pitchFamily="34" charset="0"/>
                        <a:cs typeface="Prompt" panose="00000500000000000000" pitchFamily="34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Prompt" panose="00000500000000000000" pitchFamily="34" charset="0"/>
                          <a:ea typeface="Prompt" panose="00000500000000000000" pitchFamily="34" charset="-122"/>
                          <a:cs typeface="Prompt" panose="00000500000000000000" pitchFamily="34" charset="-120"/>
                        </a:rPr>
                        <a:t>ตามความรู้สึก ไม่มีตาราง</a:t>
                      </a:r>
                      <a:endParaRPr lang="en-US" sz="1200" dirty="0">
                        <a:latin typeface="Prompt" panose="00000500000000000000" pitchFamily="34" charset="0"/>
                        <a:ea typeface="Prompt" panose="00000500000000000000" pitchFamily="34" charset="0"/>
                        <a:cs typeface="Prompt" panose="00000500000000000000" pitchFamily="34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Prompt" panose="00000500000000000000" pitchFamily="34" charset="0"/>
                          <a:ea typeface="Prompt" panose="00000500000000000000" pitchFamily="34" charset="-122"/>
                          <a:cs typeface="Prompt" panose="00000500000000000000" pitchFamily="34" charset="-120"/>
                        </a:rPr>
                        <a:t>จัดคิวอัตโนมัติตามช่วงเวลาที่เหมาะสม</a:t>
                      </a:r>
                      <a:endParaRPr lang="en-US" sz="1200" dirty="0">
                        <a:latin typeface="Prompt" panose="00000500000000000000" pitchFamily="34" charset="0"/>
                        <a:ea typeface="Prompt" panose="00000500000000000000" pitchFamily="34" charset="0"/>
                        <a:cs typeface="Prompt" panose="00000500000000000000" pitchFamily="34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1C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Prompt" panose="00000500000000000000" pitchFamily="34" charset="0"/>
                          <a:ea typeface="Prompt" panose="00000500000000000000" pitchFamily="34" charset="-122"/>
                          <a:cs typeface="Prompt" panose="00000500000000000000" pitchFamily="34" charset="-120"/>
                        </a:rPr>
                        <a:t>การติดตามผล</a:t>
                      </a:r>
                      <a:endParaRPr lang="en-US" sz="1200" dirty="0">
                        <a:latin typeface="Prompt" panose="00000500000000000000" pitchFamily="34" charset="0"/>
                        <a:ea typeface="Prompt" panose="00000500000000000000" pitchFamily="34" charset="0"/>
                        <a:cs typeface="Prompt" panose="00000500000000000000" pitchFamily="34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Prompt" panose="00000500000000000000" pitchFamily="34" charset="0"/>
                          <a:ea typeface="Prompt" panose="00000500000000000000" pitchFamily="34" charset="-122"/>
                          <a:cs typeface="Prompt" panose="00000500000000000000" pitchFamily="34" charset="-120"/>
                        </a:rPr>
                        <a:t>เช็คมือทีละคำค้นหา</a:t>
                      </a:r>
                      <a:endParaRPr lang="en-US" sz="1200" dirty="0">
                        <a:latin typeface="Prompt" panose="00000500000000000000" pitchFamily="34" charset="0"/>
                        <a:ea typeface="Prompt" panose="00000500000000000000" pitchFamily="34" charset="0"/>
                        <a:cs typeface="Prompt" panose="00000500000000000000" pitchFamily="34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Prompt" panose="00000500000000000000" pitchFamily="34" charset="0"/>
                          <a:ea typeface="Prompt" panose="00000500000000000000" pitchFamily="34" charset="-122"/>
                          <a:cs typeface="Prompt" panose="00000500000000000000" pitchFamily="34" charset="-120"/>
                        </a:rPr>
                        <a:t>มีรายงานอันดับอัตโนมัติต่อเนื่อง</a:t>
                      </a:r>
                      <a:endParaRPr lang="en-US" sz="1200" dirty="0">
                        <a:latin typeface="Prompt" panose="00000500000000000000" pitchFamily="34" charset="0"/>
                        <a:ea typeface="Prompt" panose="00000500000000000000" pitchFamily="34" charset="0"/>
                        <a:cs typeface="Prompt" panose="00000500000000000000" pitchFamily="34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" y="5806440"/>
            <a:ext cx="548640" cy="548640"/>
          </a:xfrm>
          <a:prstGeom prst="roundRect">
            <a:avLst>
              <a:gd name="adj" fmla="val 26667"/>
            </a:avLst>
          </a:prstGeom>
          <a:solidFill>
            <a:srgbClr val="FFC72C"/>
          </a:solidFill>
        </p:spPr>
      </p:sp>
      <p:sp>
        <p:nvSpPr>
          <p:cNvPr id="3" name="Shape 1"/>
          <p:cNvSpPr/>
          <p:nvPr/>
        </p:nvSpPr>
        <p:spPr>
          <a:xfrm>
            <a:off x="201168" y="5806440"/>
            <a:ext cx="548640" cy="548640"/>
          </a:xfrm>
          <a:prstGeom prst="roundRect">
            <a:avLst>
              <a:gd name="adj" fmla="val 26667"/>
            </a:avLst>
          </a:prstGeom>
          <a:ln w="31750">
            <a:solidFill>
              <a:srgbClr val="FFC7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92608" y="6309360"/>
            <a:ext cx="548640" cy="548640"/>
          </a:xfrm>
          <a:prstGeom prst="roundRect">
            <a:avLst>
              <a:gd name="adj" fmla="val 26667"/>
            </a:avLst>
          </a:prstGeom>
          <a:ln w="31750">
            <a:solidFill>
              <a:srgbClr val="FFC7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" y="5257800"/>
            <a:ext cx="685800" cy="685800"/>
          </a:xfrm>
          <a:prstGeom prst="roundRect">
            <a:avLst>
              <a:gd name="adj" fmla="val 24000"/>
            </a:avLst>
          </a:prstGeom>
          <a:solidFill>
            <a:srgbClr val="FF6B5B"/>
          </a:solidFill>
        </p:spPr>
      </p:sp>
      <p:sp>
        <p:nvSpPr>
          <p:cNvPr id="6" name="Shape 4"/>
          <p:cNvSpPr/>
          <p:nvPr/>
        </p:nvSpPr>
        <p:spPr>
          <a:xfrm>
            <a:off x="566928" y="5257800"/>
            <a:ext cx="548640" cy="548640"/>
          </a:xfrm>
          <a:prstGeom prst="roundRect">
            <a:avLst>
              <a:gd name="adj" fmla="val 26667"/>
            </a:avLst>
          </a:prstGeom>
          <a:solidFill>
            <a:srgbClr val="FFC72C"/>
          </a:solidFill>
        </p:spPr>
      </p:sp>
      <p:sp>
        <p:nvSpPr>
          <p:cNvPr id="7" name="Shape 5"/>
          <p:cNvSpPr/>
          <p:nvPr/>
        </p:nvSpPr>
        <p:spPr>
          <a:xfrm>
            <a:off x="640080" y="411480"/>
            <a:ext cx="249448" cy="249448"/>
          </a:xfrm>
          <a:prstGeom prst="roundRect">
            <a:avLst>
              <a:gd name="adj" fmla="val 29032"/>
            </a:avLst>
          </a:prstGeom>
          <a:solidFill>
            <a:srgbClr val="FFC72C"/>
          </a:solidFill>
        </p:spPr>
      </p:sp>
      <p:sp>
        <p:nvSpPr>
          <p:cNvPr id="8" name="Shape 6"/>
          <p:cNvSpPr/>
          <p:nvPr/>
        </p:nvSpPr>
        <p:spPr>
          <a:xfrm>
            <a:off x="801014" y="572414"/>
            <a:ext cx="249448" cy="249448"/>
          </a:xfrm>
          <a:prstGeom prst="roundRect">
            <a:avLst>
              <a:gd name="adj" fmla="val 29032"/>
            </a:avLst>
          </a:prstGeom>
          <a:solidFill>
            <a:srgbClr val="FF6B5B"/>
          </a:solidFill>
        </p:spPr>
      </p:sp>
      <p:sp>
        <p:nvSpPr>
          <p:cNvPr id="9" name="Text 7"/>
          <p:cNvSpPr/>
          <p:nvPr/>
        </p:nvSpPr>
        <p:spPr>
          <a:xfrm>
            <a:off x="1261872" y="283464"/>
            <a:ext cx="6858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Team member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169768" y="2468880"/>
            <a:ext cx="1463040" cy="1463040"/>
          </a:xfrm>
          <a:prstGeom prst="ellipse">
            <a:avLst/>
          </a:prstGeom>
          <a:solidFill>
            <a:srgbClr val="1B2A57"/>
          </a:solidFill>
        </p:spPr>
      </p:sp>
      <p:sp>
        <p:nvSpPr>
          <p:cNvPr id="11" name="Text 9"/>
          <p:cNvSpPr/>
          <p:nvPr/>
        </p:nvSpPr>
        <p:spPr>
          <a:xfrm>
            <a:off x="3169768" y="2468880"/>
            <a:ext cx="146304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WS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255368" y="40690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Winai Sriariyanant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55368" y="45262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ทีมงานโครงการ AI Content Automation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558888" y="2468880"/>
            <a:ext cx="1463040" cy="1463040"/>
          </a:xfrm>
          <a:prstGeom prst="ellipse">
            <a:avLst/>
          </a:prstGeom>
          <a:solidFill>
            <a:srgbClr val="1B2A57"/>
          </a:solidFill>
        </p:spPr>
      </p:sp>
      <p:sp>
        <p:nvSpPr>
          <p:cNvPr id="15" name="Text 13"/>
          <p:cNvSpPr/>
          <p:nvPr/>
        </p:nvSpPr>
        <p:spPr>
          <a:xfrm>
            <a:off x="7558888" y="2468880"/>
            <a:ext cx="146304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PP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644488" y="40690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Pokpong Phutphong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44488" y="45262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ทีมงานโครงการ AI Content Automation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" y="5806440"/>
            <a:ext cx="548640" cy="548640"/>
          </a:xfrm>
          <a:prstGeom prst="roundRect">
            <a:avLst>
              <a:gd name="adj" fmla="val 26667"/>
            </a:avLst>
          </a:prstGeom>
          <a:solidFill>
            <a:srgbClr val="FFC72C"/>
          </a:solidFill>
        </p:spPr>
      </p:sp>
      <p:sp>
        <p:nvSpPr>
          <p:cNvPr id="3" name="Shape 1"/>
          <p:cNvSpPr/>
          <p:nvPr/>
        </p:nvSpPr>
        <p:spPr>
          <a:xfrm>
            <a:off x="201168" y="5806440"/>
            <a:ext cx="548640" cy="548640"/>
          </a:xfrm>
          <a:prstGeom prst="roundRect">
            <a:avLst>
              <a:gd name="adj" fmla="val 26667"/>
            </a:avLst>
          </a:prstGeom>
          <a:ln w="31750">
            <a:solidFill>
              <a:srgbClr val="FFC7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92608" y="6309360"/>
            <a:ext cx="548640" cy="548640"/>
          </a:xfrm>
          <a:prstGeom prst="roundRect">
            <a:avLst>
              <a:gd name="adj" fmla="val 26667"/>
            </a:avLst>
          </a:prstGeom>
          <a:ln w="31750">
            <a:solidFill>
              <a:srgbClr val="FFC7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" y="5257800"/>
            <a:ext cx="685800" cy="685800"/>
          </a:xfrm>
          <a:prstGeom prst="roundRect">
            <a:avLst>
              <a:gd name="adj" fmla="val 24000"/>
            </a:avLst>
          </a:prstGeom>
          <a:solidFill>
            <a:srgbClr val="FF6B5B"/>
          </a:solidFill>
        </p:spPr>
      </p:sp>
      <p:sp>
        <p:nvSpPr>
          <p:cNvPr id="6" name="Shape 4"/>
          <p:cNvSpPr/>
          <p:nvPr/>
        </p:nvSpPr>
        <p:spPr>
          <a:xfrm>
            <a:off x="566928" y="5257800"/>
            <a:ext cx="548640" cy="548640"/>
          </a:xfrm>
          <a:prstGeom prst="roundRect">
            <a:avLst>
              <a:gd name="adj" fmla="val 26667"/>
            </a:avLst>
          </a:prstGeom>
          <a:solidFill>
            <a:srgbClr val="FFC72C"/>
          </a:solidFill>
        </p:spPr>
      </p:sp>
      <p:sp>
        <p:nvSpPr>
          <p:cNvPr id="7" name="Shape 5"/>
          <p:cNvSpPr/>
          <p:nvPr/>
        </p:nvSpPr>
        <p:spPr>
          <a:xfrm>
            <a:off x="10607040" y="548640"/>
            <a:ext cx="685800" cy="685800"/>
          </a:xfrm>
          <a:prstGeom prst="roundRect">
            <a:avLst>
              <a:gd name="adj" fmla="val 26667"/>
            </a:avLst>
          </a:prstGeom>
          <a:solidFill>
            <a:srgbClr val="FFC72C"/>
          </a:solidFill>
        </p:spPr>
      </p:sp>
      <p:sp>
        <p:nvSpPr>
          <p:cNvPr id="8" name="Shape 6"/>
          <p:cNvSpPr/>
          <p:nvPr/>
        </p:nvSpPr>
        <p:spPr>
          <a:xfrm>
            <a:off x="11064240" y="1051560"/>
            <a:ext cx="548640" cy="548640"/>
          </a:xfrm>
          <a:prstGeom prst="roundRect">
            <a:avLst>
              <a:gd name="adj" fmla="val 26667"/>
            </a:avLst>
          </a:prstGeom>
          <a:ln w="31750">
            <a:solidFill>
              <a:srgbClr val="FF6B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2834640"/>
            <a:ext cx="12191695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B2A57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0" y="3794760"/>
            <a:ext cx="12191695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  <a:latin typeface="Prompt" panose="00000500000000000000" pitchFamily="34" charset="0"/>
                <a:ea typeface="Prompt" panose="00000500000000000000" pitchFamily="34" charset="-122"/>
                <a:cs typeface="Prompt" panose="00000500000000000000" pitchFamily="34" charset="-120"/>
              </a:rPr>
              <a:t>AI Content Automation — ระบบสร้างคอนเทนต์อัตโนมัติด้วย AI  |  KTN Business Solutions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3173</Words>
  <Application>WPS Presentation</Application>
  <PresentationFormat>On-screen Show (16:9)</PresentationFormat>
  <Paragraphs>229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Prompt</vt:lpstr>
      <vt:lpstr>Prompt</vt:lpstr>
      <vt:lpstr>Prompt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Wynn Alister</cp:lastModifiedBy>
  <cp:revision>2</cp:revision>
  <dcterms:created xsi:type="dcterms:W3CDTF">2026-08-03T12:45:00Z</dcterms:created>
  <dcterms:modified xsi:type="dcterms:W3CDTF">2026-08-03T13:12:35Z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EAC076CA3664409AAC1547C36AB675FF_12</vt:lpwstr>
  </property>
  <property fmtid="{D5CDD505-2E9C-101B-9397-08002B2CF9AE}" pid="3" name="KSOProductBuildVer">
    <vt:lpwstr>1033-12.1.0.28032</vt:lpwstr>
  </property>
</Properties>
</file>